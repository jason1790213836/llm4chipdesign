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Ramesh Karr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27T18:55:43.423">
    <p:pos x="6000" y="0"/>
    <p:text>Can you add 2-3 slides for testbench generation. as a running example  to show that the multiple iterations do improve coverage
One slide should summarize the coverage results
Do the same for bug detection; separate testbench generation and bug detection into two parts of the presentation; you have it. but add more for bug detection (it is limited as it stands.; Thanks for your hlp Jitendra; 
Any related works? point to them. are they open source; then share the open source repo or whatever...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bad9066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bad9066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cbad9066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cbad9066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bad90669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bad90669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44ceb08e3_5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44ceb08e3_5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44ceb08e3_5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44ceb08e3_5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44ceb08e3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44ceb08e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45366b7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45366b7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45366b76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45366b76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45366b76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45366b76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cbad90669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cbad9066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44ceb08e3_5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44ceb08e3_5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cbad90669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cbad90669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44ceb08e3_5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44ceb08e3_5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44ceb08e3_5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44ceb08e3_5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1373850"/>
            <a:ext cx="9144000" cy="11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highlight>
                  <a:srgbClr val="FFFFFF"/>
                </a:highlight>
              </a:rPr>
              <a:t>      </a:t>
            </a:r>
            <a:r>
              <a:rPr b="1" lang="en" sz="3600">
                <a:solidFill>
                  <a:srgbClr val="0000FF"/>
                </a:solidFill>
                <a:highlight>
                  <a:srgbClr val="FFFFFF"/>
                </a:highlight>
              </a:rPr>
              <a:t> LLM-Aided Testbench Generation for Finite State Machines (FSM)</a:t>
            </a:r>
            <a:endParaRPr/>
          </a:p>
        </p:txBody>
      </p:sp>
      <p:pic>
        <p:nvPicPr>
          <p:cNvPr descr="A purple and white sign with white letters"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Motivation</a:t>
            </a:r>
            <a:endParaRPr sz="3020">
              <a:solidFill>
                <a:srgbClr val="0000FF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83911" y="1237675"/>
            <a:ext cx="8832300" cy="28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Testing</a:t>
            </a:r>
            <a:r>
              <a:rPr lang="en" sz="2400">
                <a:solidFill>
                  <a:schemeClr val="dk1"/>
                </a:solidFill>
              </a:rPr>
              <a:t> RTL → Testbench Generation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Design Verification is time consuming task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Coming up with relevant test patterns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Validating result against Design Specification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Improve Coverage using relevant test cases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Catch functional RTL bugs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descr="A purple and white sign with white letters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7076" y="36707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10650" y="0"/>
            <a:ext cx="53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Proposed Flow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9" y="1309249"/>
            <a:ext cx="9144001" cy="33402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purple and white sign with white letters" id="69" name="Google Shape;6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0" y="26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Prompts: Testbench Template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4" y="609387"/>
            <a:ext cx="8998874" cy="43354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urple and white sign with white letters" id="76" name="Google Shape;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0" y="26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Prompts: Improve </a:t>
            </a:r>
            <a:r>
              <a:rPr lang="en" sz="3020">
                <a:solidFill>
                  <a:srgbClr val="0000FF"/>
                </a:solidFill>
              </a:rPr>
              <a:t>Test Case</a:t>
            </a:r>
            <a:r>
              <a:rPr lang="en" sz="3020">
                <a:solidFill>
                  <a:srgbClr val="0000FF"/>
                </a:solidFill>
              </a:rPr>
              <a:t> Generation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527" y="702850"/>
            <a:ext cx="7086348" cy="444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urple and white sign with white letters" id="83" name="Google Shape;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Feedback to Improve FSM Coverage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0" l="0" r="-2669" t="0"/>
          <a:stretch/>
        </p:blipFill>
        <p:spPr>
          <a:xfrm>
            <a:off x="1627050" y="604647"/>
            <a:ext cx="6177210" cy="445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urple and white sign with white letters" id="90" name="Google Shape;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0" y="-2129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Example of Generated Test Pattern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373" y="479600"/>
            <a:ext cx="4369001" cy="462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51" y="1533826"/>
            <a:ext cx="4665975" cy="1841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purple and white sign with white letters" id="98" name="Google Shape;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0" y="-2129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LLM-Guided Testbench (Easy)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descr="A purple and white sign with white letters" id="104" name="Google Shape;1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 title="Screenshot 2025-09-27 at 3.41.03 PM.png"/>
          <p:cNvPicPr preferRelativeResize="0"/>
          <p:nvPr/>
        </p:nvPicPr>
        <p:blipFill rotWithShape="1">
          <a:blip r:embed="rId4">
            <a:alphaModFix/>
          </a:blip>
          <a:srcRect b="46248" l="0" r="44812" t="0"/>
          <a:stretch/>
        </p:blipFill>
        <p:spPr>
          <a:xfrm>
            <a:off x="3368400" y="466208"/>
            <a:ext cx="4791692" cy="466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0" y="-2129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LLM-Guided Testbench Generation (Med)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descr="A purple and white sign with white letters" id="111" name="Google Shape;1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 title="Screenshot 2025-09-27 at 3.41.03 PM.png"/>
          <p:cNvPicPr preferRelativeResize="0"/>
          <p:nvPr/>
        </p:nvPicPr>
        <p:blipFill rotWithShape="1">
          <a:blip r:embed="rId4">
            <a:alphaModFix/>
          </a:blip>
          <a:srcRect b="18215" l="0" r="44812" t="53687"/>
          <a:stretch/>
        </p:blipFill>
        <p:spPr>
          <a:xfrm>
            <a:off x="921848" y="1432284"/>
            <a:ext cx="7300299" cy="37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 title="Screenshot 2025-09-27 at 3.41.03 PM.png"/>
          <p:cNvPicPr preferRelativeResize="0"/>
          <p:nvPr/>
        </p:nvPicPr>
        <p:blipFill rotWithShape="1">
          <a:blip r:embed="rId4">
            <a:alphaModFix/>
          </a:blip>
          <a:srcRect b="88426" l="0" r="44812" t="0"/>
          <a:stretch/>
        </p:blipFill>
        <p:spPr>
          <a:xfrm>
            <a:off x="921849" y="402325"/>
            <a:ext cx="7300299" cy="100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0" y="-2129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LLM-Guided Testbench Generation (hard)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descr="A purple and white sign with white letters" id="119" name="Google Shape;1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 title="Screenshot 2025-09-27 at 3.48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550" y="2463875"/>
            <a:ext cx="7702601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Bug Detection</a:t>
            </a:r>
            <a:endParaRPr sz="3020">
              <a:solidFill>
                <a:srgbClr val="0000FF"/>
              </a:solidFill>
            </a:endParaRPr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-28350" y="1152475"/>
            <a:ext cx="92292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Bug detection in RTL</a:t>
            </a:r>
            <a:r>
              <a:rPr lang="en" sz="2000">
                <a:solidFill>
                  <a:schemeClr val="dk1"/>
                </a:solidFill>
              </a:rPr>
              <a:t>: LLM compares simulation results from testbenches against plain-English specifications to flag failing tests.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Complexity</a:t>
            </a:r>
            <a:r>
              <a:rPr lang="en" sz="2000">
                <a:solidFill>
                  <a:schemeClr val="dk1"/>
                </a:solidFill>
              </a:rPr>
              <a:t>: As FSMs grow, required input patterns and resulting I/O traces increase drastically, overwhelming GPT and limiting scalability.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Key improvements</a:t>
            </a:r>
            <a:r>
              <a:rPr lang="e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Divide I/O patterns into smaller sets for state tracking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2000">
                <a:solidFill>
                  <a:schemeClr val="dk1"/>
                </a:solidFill>
              </a:rPr>
              <a:t>Handle multi-bit inputs/outputs individually (</a:t>
            </a:r>
            <a:r>
              <a:rPr lang="en" sz="2000">
                <a:solidFill>
                  <a:schemeClr val="dk1"/>
                </a:solidFill>
              </a:rPr>
              <a:t>sub-circuits of </a:t>
            </a:r>
            <a:r>
              <a:rPr lang="en" sz="2000">
                <a:solidFill>
                  <a:schemeClr val="dk1"/>
                </a:solidFill>
              </a:rPr>
              <a:t>output cones)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descr="A purple and white sign with white letters" id="127" name="Google Shape;1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-10649" y="26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Example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575" y="1095350"/>
            <a:ext cx="3710900" cy="3164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" name="Google Shape;134;p24"/>
          <p:cNvSpPr txBox="1"/>
          <p:nvPr/>
        </p:nvSpPr>
        <p:spPr>
          <a:xfrm>
            <a:off x="42600" y="1064823"/>
            <a:ext cx="5335200" cy="3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Transition coverage</a:t>
            </a:r>
            <a:r>
              <a:rPr lang="en" sz="1800">
                <a:solidFill>
                  <a:schemeClr val="dk1"/>
                </a:solidFill>
              </a:rPr>
              <a:t>: To fully this FSM, all transitions (e.g., A→A, A→B, B→C, …, D→A) must be exercised using carefully designed input patterns (e.g., 1000010010101101…)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LLM limitation</a:t>
            </a:r>
            <a:r>
              <a:rPr lang="en" sz="1800">
                <a:solidFill>
                  <a:schemeClr val="dk1"/>
                </a:solidFill>
              </a:rPr>
              <a:t>: LLM often fail to automatically infer such transition requirements, leading to stalls or repetitive test pattern generation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Context constraints</a:t>
            </a:r>
            <a:r>
              <a:rPr lang="en" sz="1800">
                <a:solidFill>
                  <a:schemeClr val="dk1"/>
                </a:solidFill>
              </a:rPr>
              <a:t>: Due to limited context window, the model cannot explore all transitions in a single iteration.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A purple and white sign with white letters" id="135" name="Google Shape;1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Prompt: Bug Detection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18" y="699475"/>
            <a:ext cx="7610240" cy="435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urple and white sign with white letters" id="142" name="Google Shape;1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10649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Proposed Flow</a:t>
            </a:r>
            <a:endParaRPr sz="3020">
              <a:solidFill>
                <a:srgbClr val="0000FF"/>
              </a:solidFill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359" y="1761063"/>
            <a:ext cx="6791325" cy="2657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purple and white sign with white letters" id="149" name="Google Shape;14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solidFill>
                  <a:srgbClr val="0000FF"/>
                </a:solidFill>
              </a:rPr>
              <a:t>Conclusion</a:t>
            </a:r>
            <a:endParaRPr sz="3020">
              <a:solidFill>
                <a:srgbClr val="0000FF"/>
              </a:solidFill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Large FSMs with many states/transitions cause LLMs to repeat responses and miss coverage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 readily available combined RTL–testbench datasets; labeling “good vs. bad” testbenches requires full EDA runs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resets (“reset after X transitions”) and EDA tool feedback (“focus on uncovered transitions”) to guide LLMs effectively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Providing underlying RTL helps LLMs contextualize testbenches, with prompts playing a critical role in quality bug detection</a:t>
            </a:r>
            <a:endParaRPr sz="1500"/>
          </a:p>
        </p:txBody>
      </p:sp>
      <p:pic>
        <p:nvPicPr>
          <p:cNvPr descr="A purple and white sign with white letters" id="156" name="Google Shape;1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7076" y="26058"/>
            <a:ext cx="2077847" cy="35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